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7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43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36576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400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MINOR PROJECT · CS/DS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</a:rPr>
              <a:t>Scheme-AI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DB6AC"/>
                </a:solidFill>
              </a:rPr>
              <a:t>Government Scheme Eligibility &amp;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DB6AC"/>
                </a:solidFill>
              </a:rPr>
              <a:t>Application AI Assistant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36576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0A4AE"/>
                </a:solidFill>
              </a:rPr>
              <a:t>Agentic AI  ·  RAG  ·  NLP  ·  LLM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2963" y="960120"/>
            <a:ext cx="2560320" cy="2560320"/>
          </a:xfrm>
          <a:prstGeom prst="ellipse">
            <a:avLst/>
          </a:prstGeom>
          <a:solidFill>
            <a:srgbClr val="00897B">
              <a:alpha val="15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0163" y="1417320"/>
            <a:ext cx="1645920" cy="164592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4483" y="162306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0F76A33-1EB9-78C2-09F5-7BFE511AF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34" t="-13889" r="-12491" b="-27991"/>
          <a:stretch>
            <a:fillRect/>
          </a:stretch>
        </p:blipFill>
        <p:spPr bwMode="auto">
          <a:xfrm>
            <a:off x="3569677" y="173035"/>
            <a:ext cx="2004645" cy="4670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B76C7C-8E71-9928-40A1-536CFFEC1671}"/>
              </a:ext>
            </a:extLst>
          </p:cNvPr>
          <p:cNvSpPr txBox="1"/>
          <p:nvPr/>
        </p:nvSpPr>
        <p:spPr>
          <a:xfrm>
            <a:off x="6632918" y="4415876"/>
            <a:ext cx="3931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bg1"/>
                </a:solidFill>
              </a:rPr>
              <a:t>Submitted To:   Prof. Mayank Bhatt </a:t>
            </a:r>
            <a:br>
              <a:rPr lang="en-US" sz="1000" b="1" i="1" dirty="0">
                <a:solidFill>
                  <a:schemeClr val="bg1"/>
                </a:solidFill>
              </a:rPr>
            </a:br>
            <a:r>
              <a:rPr lang="en-US" sz="1000" b="1" i="1" dirty="0">
                <a:solidFill>
                  <a:schemeClr val="bg1"/>
                </a:solidFill>
              </a:rPr>
              <a:t>                            Prof.  Mahendra Verma</a:t>
            </a:r>
            <a:br>
              <a:rPr lang="en-US" sz="1000" b="1" i="1" dirty="0">
                <a:solidFill>
                  <a:schemeClr val="bg1"/>
                </a:solidFill>
              </a:rPr>
            </a:br>
            <a:endParaRPr lang="en-US" sz="1000" b="1" i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2D138E-A2D5-7B83-FF0F-C801DB952D8E}"/>
              </a:ext>
            </a:extLst>
          </p:cNvPr>
          <p:cNvSpPr txBox="1"/>
          <p:nvPr/>
        </p:nvSpPr>
        <p:spPr>
          <a:xfrm>
            <a:off x="536469" y="4380309"/>
            <a:ext cx="3033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1" dirty="0">
                <a:solidFill>
                  <a:schemeClr val="bg1"/>
                </a:solidFill>
              </a:rPr>
              <a:t>Submitted by: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7CFA9E-48FA-6132-C309-F1C96BBCF634}"/>
              </a:ext>
            </a:extLst>
          </p:cNvPr>
          <p:cNvSpPr txBox="1"/>
          <p:nvPr/>
        </p:nvSpPr>
        <p:spPr>
          <a:xfrm>
            <a:off x="1322854" y="4389120"/>
            <a:ext cx="19689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i="1" dirty="0">
                <a:solidFill>
                  <a:schemeClr val="bg1"/>
                </a:solidFill>
              </a:rPr>
              <a:t>Bhavna Sharma  ( 0827CD231018), Faiz Hashmi  ( 0827CD231030)</a:t>
            </a:r>
          </a:p>
          <a:p>
            <a:r>
              <a:rPr lang="en-US" sz="900" b="1" i="1" dirty="0">
                <a:solidFill>
                  <a:schemeClr val="bg1"/>
                </a:solidFill>
              </a:rPr>
              <a:t>Lavina fand  ( 0827CD231046), Sameer Jaiswal ( 0827CD231061)</a:t>
            </a:r>
            <a:br>
              <a:rPr lang="en-US" sz="900" b="1" i="1" dirty="0">
                <a:solidFill>
                  <a:schemeClr val="bg1"/>
                </a:solidFill>
              </a:rPr>
            </a:br>
            <a:endParaRPr lang="en-US" sz="9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FFFFFF"/>
                </a:solidFill>
              </a:rPr>
              <a:t>01 — THE PROBLEM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Crores of Eligible Citizens Miss Out on Benefits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468880" cy="1417320"/>
          </a:xfrm>
          <a:prstGeom prst="rect">
            <a:avLst/>
          </a:prstGeom>
          <a:solidFill>
            <a:srgbClr val="FFFFFF"/>
          </a:solidFill>
          <a:ln w="381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46888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3935"/>
                </a:solidFill>
              </a:rPr>
              <a:t>53%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19364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</a:rPr>
              <a:t>of India's salaried workforce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</a:rPr>
              <a:t>lacks any social security benefit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371600"/>
            <a:ext cx="2468880" cy="1417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371600"/>
            <a:ext cx="24688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481328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</a:rPr>
              <a:t>1,700+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63240" y="219364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</a:rPr>
              <a:t>central &amp; state govt schemes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</a:rPr>
              <a:t>in active operation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1371600"/>
            <a:ext cx="2468880" cy="14173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1371600"/>
            <a:ext cx="24688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481328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</a:rPr>
              <a:t>~40%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15000" y="219364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</a:rPr>
              <a:t>of welfare budgets remain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</a:rPr>
              <a:t>unspent or unutilised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ROOT CAUSES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91840"/>
            <a:ext cx="201168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No Awareness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Schemes exist on paper;</a:t>
            </a:r>
            <a:endParaRPr lang="en-US" sz="850" b="1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citizens never hear of them</a:t>
            </a:r>
            <a:endParaRPr lang="en-US" sz="850" b="1" dirty="0"/>
          </a:p>
        </p:txBody>
      </p:sp>
      <p:sp>
        <p:nvSpPr>
          <p:cNvPr id="23" name="Shape 21"/>
          <p:cNvSpPr/>
          <p:nvPr/>
        </p:nvSpPr>
        <p:spPr>
          <a:xfrm>
            <a:off x="2468880" y="32918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3291840"/>
            <a:ext cx="201168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Complex Forms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Government jargon is</a:t>
            </a:r>
            <a:endParaRPr lang="en-US" sz="850" b="1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hard to decode</a:t>
            </a:r>
            <a:endParaRPr lang="en-US" sz="850" b="1" dirty="0"/>
          </a:p>
        </p:txBody>
      </p:sp>
      <p:sp>
        <p:nvSpPr>
          <p:cNvPr id="28" name="Shape 26"/>
          <p:cNvSpPr/>
          <p:nvPr/>
        </p:nvSpPr>
        <p:spPr>
          <a:xfrm>
            <a:off x="4617720" y="32918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291840"/>
            <a:ext cx="201168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177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Scattered Info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No single place to check</a:t>
            </a:r>
            <a:endParaRPr lang="en-US" sz="850" b="1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all eligible schemes</a:t>
            </a:r>
            <a:endParaRPr lang="en-US" sz="850" b="1" dirty="0"/>
          </a:p>
        </p:txBody>
      </p:sp>
      <p:sp>
        <p:nvSpPr>
          <p:cNvPr id="33" name="Shape 31"/>
          <p:cNvSpPr/>
          <p:nvPr/>
        </p:nvSpPr>
        <p:spPr>
          <a:xfrm>
            <a:off x="6766560" y="32918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3291840"/>
            <a:ext cx="201168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6656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Language Gap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Most portals English-only;</a:t>
            </a:r>
            <a:endParaRPr lang="en-US" sz="850" b="1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7474F"/>
                </a:solidFill>
              </a:rPr>
              <a:t>no regional language support</a:t>
            </a:r>
            <a:endParaRPr lang="en-US" sz="850" b="1" dirty="0"/>
          </a:p>
        </p:txBody>
      </p:sp>
      <p:sp>
        <p:nvSpPr>
          <p:cNvPr id="38" name="Text 36"/>
          <p:cNvSpPr/>
          <p:nvPr/>
        </p:nvSpPr>
        <p:spPr>
          <a:xfrm>
            <a:off x="32004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0A4AE"/>
                </a:solidFill>
              </a:rPr>
              <a:t>Source: PLFS Annual Report 2021-22 · PMC Research 2024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</a:rPr>
              <a:t>02 — OUR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GovAI: An Agentic AI That Does the Heavy Lifting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993392" cy="271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99339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97B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Conversational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Profiling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3090672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7474F"/>
                </a:solidFill>
              </a:rPr>
              <a:t>AI asks simple questions</a:t>
            </a:r>
            <a:endParaRPr lang="en-US" sz="95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7474F"/>
                </a:solidFill>
              </a:rPr>
              <a:t>(age, income, state, occupation)</a:t>
            </a:r>
            <a:endParaRPr lang="en-US" sz="950" b="1" dirty="0"/>
          </a:p>
        </p:txBody>
      </p:sp>
      <p:sp>
        <p:nvSpPr>
          <p:cNvPr id="11" name="Shape 9"/>
          <p:cNvSpPr/>
          <p:nvPr/>
        </p:nvSpPr>
        <p:spPr>
          <a:xfrm>
            <a:off x="2267712" y="2514600"/>
            <a:ext cx="18288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371600"/>
            <a:ext cx="1993392" cy="2715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71600"/>
            <a:ext cx="1993392" cy="548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463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B6AC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0592" y="18288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42032" y="24871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Eligibility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Matching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090672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E0F2F1"/>
                </a:solidFill>
              </a:rPr>
              <a:t>RAG retrieves &amp; ranks</a:t>
            </a:r>
            <a:endParaRPr lang="en-US" sz="95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E0F2F1"/>
                </a:solidFill>
              </a:rPr>
              <a:t>relevant schemes</a:t>
            </a:r>
            <a:endParaRPr lang="en-US" sz="950" b="1" dirty="0"/>
          </a:p>
        </p:txBody>
      </p:sp>
      <p:sp>
        <p:nvSpPr>
          <p:cNvPr id="18" name="Shape 16"/>
          <p:cNvSpPr/>
          <p:nvPr/>
        </p:nvSpPr>
        <p:spPr>
          <a:xfrm>
            <a:off x="4443984" y="2514600"/>
            <a:ext cx="18288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371600"/>
            <a:ext cx="1993392" cy="271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371600"/>
            <a:ext cx="199339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463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26864" y="18288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18304" y="24871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Plain Language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Explanation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3090672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7474F"/>
                </a:solidFill>
              </a:rPr>
              <a:t>Benefits explained simply</a:t>
            </a:r>
            <a:endParaRPr lang="en-US" sz="95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7474F"/>
                </a:solidFill>
              </a:rPr>
              <a:t>in user's language</a:t>
            </a:r>
            <a:endParaRPr lang="en-US" sz="950" b="1" dirty="0"/>
          </a:p>
        </p:txBody>
      </p:sp>
      <p:sp>
        <p:nvSpPr>
          <p:cNvPr id="25" name="Shape 23"/>
          <p:cNvSpPr/>
          <p:nvPr/>
        </p:nvSpPr>
        <p:spPr>
          <a:xfrm>
            <a:off x="6620256" y="2514600"/>
            <a:ext cx="18288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371601"/>
            <a:ext cx="1993392" cy="271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371600"/>
            <a:ext cx="199339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1463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3136" y="18288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94576" y="24871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Step-by-Step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Application Guide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12864" y="3090672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7474F"/>
                </a:solidFill>
              </a:rPr>
              <a:t>Documents, portals,</a:t>
            </a:r>
            <a:endParaRPr lang="en-US" sz="95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7474F"/>
                </a:solidFill>
              </a:rPr>
              <a:t>deadlines — all guided</a:t>
            </a:r>
            <a:endParaRPr lang="en-US" sz="950" b="1" dirty="0"/>
          </a:p>
        </p:txBody>
      </p:sp>
      <p:sp>
        <p:nvSpPr>
          <p:cNvPr id="32" name="Text 30"/>
          <p:cNvSpPr/>
          <p:nvPr/>
        </p:nvSpPr>
        <p:spPr>
          <a:xfrm>
            <a:off x="329184" y="42006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74F"/>
                </a:solidFill>
              </a:rPr>
              <a:t>What makes it different from myScheme.gov.in?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" y="4575515"/>
            <a:ext cx="2084832" cy="292608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575515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6AC"/>
                </a:solidFill>
              </a:rPr>
              <a:t>✓  Conversational, not form-based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87168" y="4575515"/>
            <a:ext cx="2084832" cy="292608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4575515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6AC"/>
                </a:solidFill>
              </a:rPr>
              <a:t>✓  Multilingual &amp; voice-ready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0016" y="4575515"/>
            <a:ext cx="2084832" cy="292608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575515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6AC"/>
                </a:solidFill>
              </a:rPr>
              <a:t>✓  Agentic — guides end-to-end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22711" y="4574814"/>
            <a:ext cx="2084832" cy="292608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863" y="455722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6AC"/>
                </a:solidFill>
              </a:rPr>
              <a:t>✓  Explains WHY you qualify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FFFFFF"/>
                </a:solidFill>
              </a:rPr>
              <a:t>03 — USE CASES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Who Benefits &amp; 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54864" cy="16276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👨‍🌾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481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Farmer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Kisan from Bihar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3A047"/>
                </a:solidFill>
              </a:rPr>
              <a:t>Eligible for: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7474F"/>
                </a:solidFill>
              </a:rPr>
              <a:t>PM-KISAN, PMFBY (crop insurance), Soil Health Card</a:t>
            </a:r>
            <a:endParaRPr lang="en-US" sz="900" b="1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71600"/>
            <a:ext cx="54864" cy="16276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👩‍🎓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04488" y="1481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Student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04488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Girl from tribal area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084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</a:rPr>
              <a:t>Eligible for: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0" y="22677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7474F"/>
                </a:solidFill>
              </a:rPr>
              <a:t>National Scholarship Portal, Beti Bachao, ST/SC grants</a:t>
            </a:r>
            <a:endParaRPr lang="en-US" sz="900" b="1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54864" cy="16276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76288" y="1481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Migrant Worker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76288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Construction labourer, Delhi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084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Eligible for: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22677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7474F"/>
                </a:solidFill>
              </a:rPr>
              <a:t>e-Shram, BOCW welfare, PMAY (housing)</a:t>
            </a:r>
            <a:endParaRPr lang="en-US" sz="900" b="1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200400"/>
            <a:ext cx="54864" cy="16276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👩‍💼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32688" y="3310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Small Biz Owner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2688" y="3584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Women entrepreneur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935"/>
                </a:solidFill>
              </a:rPr>
              <a:t>Eligible for: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0965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7474F"/>
                </a:solidFill>
              </a:rPr>
              <a:t>Mudra Yojana, Stand-Up India, Startup India</a:t>
            </a:r>
            <a:endParaRPr lang="en-US" sz="900" b="1" dirty="0"/>
          </a:p>
        </p:txBody>
      </p:sp>
      <p:sp>
        <p:nvSpPr>
          <p:cNvPr id="33" name="Shape 31"/>
          <p:cNvSpPr/>
          <p:nvPr/>
        </p:nvSpPr>
        <p:spPr>
          <a:xfrm>
            <a:off x="3246120" y="32004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200400"/>
            <a:ext cx="54864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04488" y="3310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Senior Citizen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04488" y="3584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Retired farmer, 65+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83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Eligible for: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83280" y="40965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7474F"/>
                </a:solidFill>
              </a:rPr>
              <a:t>PMVVY, Atal Pension Yojana, Ayushman Bharat</a:t>
            </a:r>
            <a:endParaRPr lang="en-US" sz="900" b="1" dirty="0"/>
          </a:p>
        </p:txBody>
      </p:sp>
      <p:sp>
        <p:nvSpPr>
          <p:cNvPr id="40" name="Shape 38"/>
          <p:cNvSpPr/>
          <p:nvPr/>
        </p:nvSpPr>
        <p:spPr>
          <a:xfrm>
            <a:off x="6217920" y="32004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200400"/>
            <a:ext cx="54864" cy="1627632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🤰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76288" y="3310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Pregnant Woman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76288" y="3584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First-time mother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24AA"/>
                </a:solidFill>
              </a:rPr>
              <a:t>Eligible for: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55080" y="40965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7474F"/>
                </a:solidFill>
              </a:rPr>
              <a:t>PMMVY (maternity benefit), JSY, Poshan Abhiyaan</a:t>
            </a:r>
            <a:endParaRPr lang="en-US" sz="9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04 — TECH STACK &amp;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How It's Built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141732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Interface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37474F"/>
                </a:solidFill>
              </a:rPr>
              <a:t>Streamlit</a:t>
            </a:r>
            <a:r>
              <a:rPr lang="en-US" sz="1050" b="1" dirty="0">
                <a:solidFill>
                  <a:srgbClr val="37474F"/>
                </a:solidFill>
              </a:rPr>
              <a:t> ·  WhatsApp API</a:t>
            </a:r>
            <a:endParaRPr lang="en-US" sz="1050" b="1" dirty="0"/>
          </a:p>
        </p:txBody>
      </p:sp>
      <p:sp>
        <p:nvSpPr>
          <p:cNvPr id="9" name="Shape 7"/>
          <p:cNvSpPr/>
          <p:nvPr/>
        </p:nvSpPr>
        <p:spPr>
          <a:xfrm>
            <a:off x="1645920" y="1965960"/>
            <a:ext cx="0" cy="100584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66544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66544"/>
            <a:ext cx="14173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320" y="20665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122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LangChain Agents  ·  </a:t>
            </a:r>
            <a:r>
              <a:rPr lang="en-US" sz="1000" b="1" dirty="0" err="1">
                <a:solidFill>
                  <a:srgbClr val="37474F"/>
                </a:solidFill>
              </a:rPr>
              <a:t>LangGraph</a:t>
            </a:r>
            <a:r>
              <a:rPr lang="en-US" sz="1000" b="1" dirty="0">
                <a:solidFill>
                  <a:srgbClr val="37474F"/>
                </a:solidFill>
              </a:rPr>
              <a:t>  ·  Conversation Memory</a:t>
            </a:r>
            <a:endParaRPr lang="en-US" sz="1000" b="1" dirty="0"/>
          </a:p>
        </p:txBody>
      </p:sp>
      <p:sp>
        <p:nvSpPr>
          <p:cNvPr id="14" name="Shape 12"/>
          <p:cNvSpPr/>
          <p:nvPr/>
        </p:nvSpPr>
        <p:spPr>
          <a:xfrm>
            <a:off x="1645920" y="2706624"/>
            <a:ext cx="0" cy="100584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07208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07208"/>
            <a:ext cx="141732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072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RAG Pipeline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28800" y="28529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Document Loader → Text Splitter → Embeddings → </a:t>
            </a:r>
            <a:r>
              <a:rPr lang="en-US" sz="1000" b="1" dirty="0" err="1">
                <a:solidFill>
                  <a:srgbClr val="37474F"/>
                </a:solidFill>
              </a:rPr>
              <a:t>ChromaDB</a:t>
            </a:r>
            <a:r>
              <a:rPr lang="en-US" sz="1000" b="1" dirty="0">
                <a:solidFill>
                  <a:srgbClr val="37474F"/>
                </a:solidFill>
              </a:rPr>
              <a:t> → Retriever</a:t>
            </a:r>
            <a:endParaRPr lang="en-US" sz="1000" b="1" dirty="0"/>
          </a:p>
        </p:txBody>
      </p:sp>
      <p:sp>
        <p:nvSpPr>
          <p:cNvPr id="19" name="Shape 17"/>
          <p:cNvSpPr/>
          <p:nvPr/>
        </p:nvSpPr>
        <p:spPr>
          <a:xfrm>
            <a:off x="1645920" y="3447288"/>
            <a:ext cx="0" cy="100584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47872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1417320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478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LLM 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5935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GPT-4 ·  Prompt Engineering  ·  Output Parser</a:t>
            </a:r>
            <a:endParaRPr lang="en-US" sz="1000" b="1" dirty="0"/>
          </a:p>
        </p:txBody>
      </p:sp>
      <p:sp>
        <p:nvSpPr>
          <p:cNvPr id="24" name="Shape 22"/>
          <p:cNvSpPr/>
          <p:nvPr/>
        </p:nvSpPr>
        <p:spPr>
          <a:xfrm>
            <a:off x="1645920" y="4187952"/>
            <a:ext cx="0" cy="100584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88536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88536"/>
            <a:ext cx="1417320" cy="6400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8853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Knowledge Base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43342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Scraped myScheme.gov.in  ·  Scheme PDFs  ·  State portals  ·  Auto-updated pipeline</a:t>
            </a:r>
            <a:endParaRPr lang="en-US" sz="1000" b="1" dirty="0"/>
          </a:p>
        </p:txBody>
      </p:sp>
      <p:sp>
        <p:nvSpPr>
          <p:cNvPr id="29" name="Shape 27"/>
          <p:cNvSpPr/>
          <p:nvPr/>
        </p:nvSpPr>
        <p:spPr>
          <a:xfrm>
            <a:off x="5852160" y="1325880"/>
            <a:ext cx="3017520" cy="3703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5216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4DB6AC"/>
                </a:solidFill>
              </a:rPr>
              <a:t>KEY TOOLS</a:t>
            </a:r>
            <a:endParaRPr lang="en-US" sz="1600" b="1" dirty="0"/>
          </a:p>
        </p:txBody>
      </p:sp>
      <p:sp>
        <p:nvSpPr>
          <p:cNvPr id="31" name="Text 29"/>
          <p:cNvSpPr/>
          <p:nvPr/>
        </p:nvSpPr>
        <p:spPr>
          <a:xfrm>
            <a:off x="5989320" y="1828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 LangChain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1828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Agent orchestration</a:t>
            </a:r>
            <a:endParaRPr lang="en-US" sz="850" b="1" dirty="0"/>
          </a:p>
        </p:txBody>
      </p:sp>
      <p:sp>
        <p:nvSpPr>
          <p:cNvPr id="33" name="Text 31"/>
          <p:cNvSpPr/>
          <p:nvPr/>
        </p:nvSpPr>
        <p:spPr>
          <a:xfrm>
            <a:off x="5989320" y="2304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🕸️  LangGraph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23042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Stateful multi-step flows</a:t>
            </a:r>
            <a:endParaRPr lang="en-US" sz="850" b="1" dirty="0"/>
          </a:p>
        </p:txBody>
      </p:sp>
      <p:sp>
        <p:nvSpPr>
          <p:cNvPr id="35" name="Text 33"/>
          <p:cNvSpPr/>
          <p:nvPr/>
        </p:nvSpPr>
        <p:spPr>
          <a:xfrm>
            <a:off x="5989320" y="27797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  OpenAI / Groq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2779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LLM reasoning engine</a:t>
            </a:r>
            <a:endParaRPr lang="en-US" sz="850" b="1" dirty="0"/>
          </a:p>
        </p:txBody>
      </p:sp>
      <p:sp>
        <p:nvSpPr>
          <p:cNvPr id="37" name="Text 35"/>
          <p:cNvSpPr/>
          <p:nvPr/>
        </p:nvSpPr>
        <p:spPr>
          <a:xfrm>
            <a:off x="5989320" y="32552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 ChromaDB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32552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Vector storage &amp; retrieval</a:t>
            </a:r>
            <a:endParaRPr lang="en-US" sz="850" b="1" dirty="0"/>
          </a:p>
        </p:txBody>
      </p:sp>
      <p:sp>
        <p:nvSpPr>
          <p:cNvPr id="39" name="Text 37"/>
          <p:cNvSpPr/>
          <p:nvPr/>
        </p:nvSpPr>
        <p:spPr>
          <a:xfrm>
            <a:off x="5989320" y="3730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 Bhashini 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3730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Indian language support</a:t>
            </a:r>
            <a:endParaRPr lang="en-US" sz="850" b="1" dirty="0"/>
          </a:p>
        </p:txBody>
      </p:sp>
      <p:sp>
        <p:nvSpPr>
          <p:cNvPr id="41" name="Text 39"/>
          <p:cNvSpPr/>
          <p:nvPr/>
        </p:nvSpPr>
        <p:spPr>
          <a:xfrm>
            <a:off x="5989320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FastAPI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206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Backend REST API</a:t>
            </a:r>
            <a:endParaRPr lang="en-US" sz="850" b="1" dirty="0"/>
          </a:p>
        </p:txBody>
      </p:sp>
      <p:sp>
        <p:nvSpPr>
          <p:cNvPr id="43" name="Text 41"/>
          <p:cNvSpPr/>
          <p:nvPr/>
        </p:nvSpPr>
        <p:spPr>
          <a:xfrm>
            <a:off x="5989320" y="4681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🖥️  Streamlit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681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A4AE"/>
                </a:solidFill>
              </a:rPr>
              <a:t>Rapid UI prototyping</a:t>
            </a:r>
            <a:endParaRPr lang="en-US" sz="8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05 — 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Honest Challenges We Must Address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420624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48132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813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🔄  Data Freshness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Scheme eligibility rules change frequently. Static knowledge bases go stale, leading to incorrect guidance.</a:t>
            </a:r>
            <a:endParaRPr lang="en-US" sz="1000" b="1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420624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48132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4813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481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🤥  LLM Hallucination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LLMs can confidently generate wrong eligibility details, especially for obscure state-level schemes.</a:t>
            </a:r>
            <a:endParaRPr lang="en-US" sz="1000" b="1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33472"/>
            <a:ext cx="420624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743200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🌐  Digital Divide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3090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Most rural beneficiaries lack smartphones or internet — the very people who need help most.</a:t>
            </a:r>
            <a:endParaRPr lang="en-US" sz="1000" b="1" dirty="0"/>
          </a:p>
        </p:txBody>
      </p:sp>
      <p:sp>
        <p:nvSpPr>
          <p:cNvPr id="23" name="Shape 21"/>
          <p:cNvSpPr/>
          <p:nvPr/>
        </p:nvSpPr>
        <p:spPr>
          <a:xfrm>
            <a:off x="4709160" y="26334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633472"/>
            <a:ext cx="420624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743200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🗣️  Language Coverage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090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India has 22 scheduled languages + dialects. Full NLP support for all is complex and resource-heavy.</a:t>
            </a:r>
            <a:endParaRPr lang="en-US" sz="1000" b="1" dirty="0"/>
          </a:p>
        </p:txBody>
      </p:sp>
      <p:sp>
        <p:nvSpPr>
          <p:cNvPr id="29" name="Shape 27"/>
          <p:cNvSpPr/>
          <p:nvPr/>
        </p:nvSpPr>
        <p:spPr>
          <a:xfrm>
            <a:off x="274320" y="389534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895344"/>
            <a:ext cx="420624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400507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40050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4005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🔒  Data Privacy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80" y="43525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Collecting sensitive profile data (income, caste, Aadhaar-linked info) creates privacy and compliance risk.</a:t>
            </a:r>
            <a:endParaRPr lang="en-US" sz="1000" b="1" dirty="0"/>
          </a:p>
        </p:txBody>
      </p:sp>
      <p:sp>
        <p:nvSpPr>
          <p:cNvPr id="35" name="Shape 33"/>
          <p:cNvSpPr/>
          <p:nvPr/>
        </p:nvSpPr>
        <p:spPr>
          <a:xfrm>
            <a:off x="4709160" y="389534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95344"/>
            <a:ext cx="420624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400507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40050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4005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📡  Coverage Gaps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6320" y="43525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Not all state/district-level schemes are digitally documented; AI cannot guide what it doesn't know.</a:t>
            </a:r>
            <a:endParaRPr lang="en-US" sz="1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FFFFFF"/>
                </a:solidFill>
              </a:rPr>
              <a:t>06 — HOW WE OVERCOME THEM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Mitigation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645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Freshness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93392" y="1371600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4264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Automated scraping pipeline on myScheme.gov.in + webhook alerts on scheme updates. Data versioned in vector DB.</a:t>
            </a:r>
            <a:endParaRPr lang="en-US" sz="1000" b="1" dirty="0"/>
          </a:p>
        </p:txBody>
      </p:sp>
      <p:sp>
        <p:nvSpPr>
          <p:cNvPr id="9" name="Shape 7"/>
          <p:cNvSpPr/>
          <p:nvPr/>
        </p:nvSpPr>
        <p:spPr>
          <a:xfrm>
            <a:off x="6839712" y="1367028"/>
            <a:ext cx="202996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142646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Scrapy · Apify</a:t>
            </a:r>
            <a:endParaRPr lang="en-US" sz="9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Pinecone metadata</a:t>
            </a: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691640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21408"/>
            <a:ext cx="1645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214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Hallucination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93392" y="2121408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1762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Strict RAG grounding — AI only answers from retrieved context. Confidence scoring; unknown queries flag to human.</a:t>
            </a:r>
            <a:endParaRPr lang="en-US" sz="1000" b="1" dirty="0"/>
          </a:p>
        </p:txBody>
      </p:sp>
      <p:sp>
        <p:nvSpPr>
          <p:cNvPr id="17" name="Shape 15"/>
          <p:cNvSpPr/>
          <p:nvPr/>
        </p:nvSpPr>
        <p:spPr>
          <a:xfrm>
            <a:off x="6839712" y="2121408"/>
            <a:ext cx="202996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176272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RAGAS eval</a:t>
            </a:r>
            <a:endParaRPr lang="en-US" sz="9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Guardrails AI</a:t>
            </a:r>
            <a:endParaRPr lang="en-US" sz="900" b="1" dirty="0"/>
          </a:p>
        </p:txBody>
      </p:sp>
      <p:sp>
        <p:nvSpPr>
          <p:cNvPr id="19" name="Shape 17"/>
          <p:cNvSpPr/>
          <p:nvPr/>
        </p:nvSpPr>
        <p:spPr>
          <a:xfrm>
            <a:off x="1920240" y="2441448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441448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71216"/>
            <a:ext cx="1645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87121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 Divide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93392" y="2871216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WhatsApp-first deployment (800M+ Indian users). IVR voice-call fallback for feature-phone users via Bhashini.</a:t>
            </a:r>
            <a:endParaRPr lang="en-US" sz="1000" b="1" dirty="0"/>
          </a:p>
        </p:txBody>
      </p:sp>
      <p:sp>
        <p:nvSpPr>
          <p:cNvPr id="25" name="Shape 23"/>
          <p:cNvSpPr/>
          <p:nvPr/>
        </p:nvSpPr>
        <p:spPr>
          <a:xfrm>
            <a:off x="6839712" y="2871216"/>
            <a:ext cx="202996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29260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Twilio · Bhashini</a:t>
            </a:r>
            <a:endParaRPr lang="en-US" sz="9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WhatsApp Business API</a:t>
            </a:r>
            <a:endParaRPr lang="en-US" sz="900" b="1" dirty="0"/>
          </a:p>
        </p:txBody>
      </p:sp>
      <p:sp>
        <p:nvSpPr>
          <p:cNvPr id="27" name="Shape 25"/>
          <p:cNvSpPr/>
          <p:nvPr/>
        </p:nvSpPr>
        <p:spPr>
          <a:xfrm>
            <a:off x="1920240" y="3191256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3191256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21024"/>
            <a:ext cx="1645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210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Language Coverage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93392" y="3621024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3675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Integrate Bhashini (Govt of India's AI stack) covering 22 scheduled languages with TTS/STT support.</a:t>
            </a:r>
            <a:endParaRPr lang="en-US" sz="1000" b="1" dirty="0"/>
          </a:p>
        </p:txBody>
      </p:sp>
      <p:sp>
        <p:nvSpPr>
          <p:cNvPr id="33" name="Shape 31"/>
          <p:cNvSpPr/>
          <p:nvPr/>
        </p:nvSpPr>
        <p:spPr>
          <a:xfrm>
            <a:off x="6839712" y="3621024"/>
            <a:ext cx="202996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8491" y="367588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Bhashini · IndicTrans2</a:t>
            </a:r>
            <a:endParaRPr lang="en-US" sz="9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AI4Bharat models</a:t>
            </a:r>
            <a:endParaRPr lang="en-US" sz="900" b="1" dirty="0"/>
          </a:p>
        </p:txBody>
      </p:sp>
      <p:sp>
        <p:nvSpPr>
          <p:cNvPr id="35" name="Shape 33"/>
          <p:cNvSpPr/>
          <p:nvPr/>
        </p:nvSpPr>
        <p:spPr>
          <a:xfrm>
            <a:off x="1920240" y="3941064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941064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370832"/>
            <a:ext cx="1645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Privacy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993392" y="4370832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03120" y="44256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7474F"/>
                </a:solidFill>
              </a:rPr>
              <a:t>No PII stored permanently. Aadhaar lookup via DigiLocker API only. Session data encrypted, deleted after 24h.</a:t>
            </a:r>
            <a:endParaRPr lang="en-US" sz="1000" b="1" dirty="0"/>
          </a:p>
        </p:txBody>
      </p:sp>
      <p:sp>
        <p:nvSpPr>
          <p:cNvPr id="41" name="Shape 39"/>
          <p:cNvSpPr/>
          <p:nvPr/>
        </p:nvSpPr>
        <p:spPr>
          <a:xfrm>
            <a:off x="6839712" y="4370832"/>
            <a:ext cx="202996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442569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DigiLocker API</a:t>
            </a:r>
            <a:endParaRPr lang="en-US" sz="9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DPDP Act 2023</a:t>
            </a:r>
            <a:endParaRPr lang="en-US" sz="900" b="1" dirty="0"/>
          </a:p>
        </p:txBody>
      </p:sp>
      <p:sp>
        <p:nvSpPr>
          <p:cNvPr id="43" name="Shape 41"/>
          <p:cNvSpPr/>
          <p:nvPr/>
        </p:nvSpPr>
        <p:spPr>
          <a:xfrm>
            <a:off x="1920240" y="4690872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4690872"/>
            <a:ext cx="7315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>
                    <a:lumMod val="50000"/>
                  </a:schemeClr>
                </a:solidFill>
              </a:rPr>
              <a:t>THE OPPORTUNITY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/>
              <a:t>If even 10% more eligible citizens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/>
              <a:t>find and apply for their schemes 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that's millions of lives materially changed.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6576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718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9718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Real-world 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29718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29718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Technically Feasible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9744" y="29718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9718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Uniquely Indian Problem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86016" y="29718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29718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Scalable with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GovAI — Built for Bharat</a:t>
            </a: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5">
                    <a:lumMod val="50000"/>
                  </a:schemeClr>
                </a:solidFill>
              </a:rPr>
              <a:t>Agentic AI  ·  RAG  ·  LangChain  ·  LangGraph  ·  Bhashini  ·  FastAPI  ·  Streamlit</a:t>
            </a:r>
            <a:endParaRPr lang="en-US" sz="1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810</Words>
  <Application>Microsoft Office PowerPoint</Application>
  <PresentationFormat>On-screen Show (16:9)</PresentationFormat>
  <Paragraphs>189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GovAI – Government Scheme Eligibility Assistant</dc:title>
  <dc:subject>PptxGenJS Presentation</dc:subject>
  <dc:creator>PptxGenJS</dc:creator>
  <cp:lastModifiedBy>Sameer Jaiswal</cp:lastModifiedBy>
  <cp:revision>2</cp:revision>
  <dcterms:created xsi:type="dcterms:W3CDTF">2026-03-13T06:26:38Z</dcterms:created>
  <dcterms:modified xsi:type="dcterms:W3CDTF">2026-03-13T07:25:55Z</dcterms:modified>
</cp:coreProperties>
</file>